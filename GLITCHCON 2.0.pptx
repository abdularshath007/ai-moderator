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290556" y="3591560"/>
            <a:ext cx="5781675" cy="7752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8550" y="638175"/>
            <a:ext cx="6477000" cy="130492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4745969" y="1481137"/>
            <a:ext cx="6451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ECDS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2106275" y="800100"/>
            <a:ext cx="4467225" cy="895350"/>
            <a:chOff x="12106275" y="800100"/>
            <a:chExt cx="4467225" cy="89535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97050" y="800100"/>
              <a:ext cx="1085850" cy="71437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54350" y="885825"/>
              <a:ext cx="819150" cy="80962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06275" y="847725"/>
              <a:ext cx="2219325" cy="762000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650" y="638175"/>
            <a:ext cx="5457825" cy="147637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63317" y="4577588"/>
            <a:ext cx="13049250" cy="115163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55029" y="7445502"/>
            <a:ext cx="5773160" cy="8065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2327" y="2643377"/>
            <a:ext cx="10865485" cy="69672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1152" y="3569461"/>
            <a:ext cx="6809994" cy="70408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58550" y="638175"/>
            <a:ext cx="6477000" cy="13049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4745969" y="1481137"/>
            <a:ext cx="6451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ECDS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2106275" y="800100"/>
            <a:ext cx="4467225" cy="895350"/>
            <a:chOff x="12106275" y="800100"/>
            <a:chExt cx="4467225" cy="895350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97050" y="800100"/>
              <a:ext cx="1085850" cy="71437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54350" y="885825"/>
              <a:ext cx="819150" cy="80962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06275" y="847725"/>
              <a:ext cx="2219325" cy="762000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8650" y="638175"/>
            <a:ext cx="5457825" cy="147637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729485" y="4861877"/>
            <a:ext cx="1127506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b="0">
                <a:latin typeface="Arial MT"/>
                <a:cs typeface="Arial MT"/>
              </a:rPr>
              <a:t>Unmoderated</a:t>
            </a:r>
            <a:r>
              <a:rPr dirty="0" sz="2750" spc="165" b="0">
                <a:latin typeface="Arial MT"/>
                <a:cs typeface="Arial MT"/>
              </a:rPr>
              <a:t> </a:t>
            </a:r>
            <a:r>
              <a:rPr dirty="0" sz="2750" b="0">
                <a:latin typeface="Arial MT"/>
                <a:cs typeface="Arial MT"/>
              </a:rPr>
              <a:t>or</a:t>
            </a:r>
            <a:r>
              <a:rPr dirty="0" sz="2750" spc="200" b="0">
                <a:latin typeface="Arial MT"/>
                <a:cs typeface="Arial MT"/>
              </a:rPr>
              <a:t> </a:t>
            </a:r>
            <a:r>
              <a:rPr dirty="0" sz="2750" b="0">
                <a:latin typeface="Arial MT"/>
                <a:cs typeface="Arial MT"/>
              </a:rPr>
              <a:t>loosely</a:t>
            </a:r>
            <a:r>
              <a:rPr dirty="0" sz="2750" spc="185" b="0">
                <a:latin typeface="Arial MT"/>
                <a:cs typeface="Arial MT"/>
              </a:rPr>
              <a:t> </a:t>
            </a:r>
            <a:r>
              <a:rPr dirty="0" sz="2750" b="0">
                <a:latin typeface="Arial MT"/>
                <a:cs typeface="Arial MT"/>
              </a:rPr>
              <a:t>moderated</a:t>
            </a:r>
            <a:r>
              <a:rPr dirty="0" sz="2750" spc="175" b="0">
                <a:latin typeface="Arial MT"/>
                <a:cs typeface="Arial MT"/>
              </a:rPr>
              <a:t> </a:t>
            </a:r>
            <a:r>
              <a:rPr dirty="0" sz="2750" b="0">
                <a:latin typeface="Arial MT"/>
                <a:cs typeface="Arial MT"/>
              </a:rPr>
              <a:t>chat</a:t>
            </a:r>
            <a:r>
              <a:rPr dirty="0" sz="2750" spc="204" b="0">
                <a:latin typeface="Arial MT"/>
                <a:cs typeface="Arial MT"/>
              </a:rPr>
              <a:t> </a:t>
            </a:r>
            <a:r>
              <a:rPr dirty="0" sz="2750" b="0">
                <a:latin typeface="Arial MT"/>
                <a:cs typeface="Arial MT"/>
              </a:rPr>
              <a:t>communities</a:t>
            </a:r>
            <a:r>
              <a:rPr dirty="0" sz="2750" spc="180" b="0">
                <a:latin typeface="Arial MT"/>
                <a:cs typeface="Arial MT"/>
              </a:rPr>
              <a:t> </a:t>
            </a:r>
            <a:r>
              <a:rPr dirty="0" sz="2750" b="0">
                <a:latin typeface="Arial MT"/>
                <a:cs typeface="Arial MT"/>
              </a:rPr>
              <a:t>often</a:t>
            </a:r>
            <a:r>
              <a:rPr dirty="0" sz="2750" spc="180" b="0">
                <a:latin typeface="Arial MT"/>
                <a:cs typeface="Arial MT"/>
              </a:rPr>
              <a:t> </a:t>
            </a:r>
            <a:r>
              <a:rPr dirty="0" sz="2750" b="0">
                <a:latin typeface="Arial MT"/>
                <a:cs typeface="Arial MT"/>
              </a:rPr>
              <a:t>suffer</a:t>
            </a:r>
            <a:r>
              <a:rPr dirty="0" sz="2750" spc="200" b="0">
                <a:latin typeface="Arial MT"/>
                <a:cs typeface="Arial MT"/>
              </a:rPr>
              <a:t> </a:t>
            </a:r>
            <a:r>
              <a:rPr dirty="0" sz="2750" spc="-10" b="0">
                <a:latin typeface="Arial MT"/>
                <a:cs typeface="Arial MT"/>
              </a:rPr>
              <a:t>from: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729485" y="5290756"/>
            <a:ext cx="13098144" cy="3852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96875" indent="-384175">
              <a:lnSpc>
                <a:spcPct val="100000"/>
              </a:lnSpc>
              <a:spcBef>
                <a:spcPts val="125"/>
              </a:spcBef>
              <a:buChar char="•"/>
              <a:tabLst>
                <a:tab pos="396875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Off-topic</a:t>
            </a:r>
            <a:r>
              <a:rPr dirty="0" sz="27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discussions</a:t>
            </a:r>
            <a:endParaRPr sz="2750">
              <a:latin typeface="Arial MT"/>
              <a:cs typeface="Arial MT"/>
            </a:endParaRPr>
          </a:p>
          <a:p>
            <a:pPr marL="396875" indent="-384175">
              <a:lnSpc>
                <a:spcPct val="100000"/>
              </a:lnSpc>
              <a:spcBef>
                <a:spcPts val="80"/>
              </a:spcBef>
              <a:buChar char="•"/>
              <a:tabLst>
                <a:tab pos="396875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Inappropriate</a:t>
            </a:r>
            <a:r>
              <a:rPr dirty="0" sz="275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2750" spc="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unethical</a:t>
            </a:r>
            <a:r>
              <a:rPr dirty="0" sz="2750" spc="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content</a:t>
            </a:r>
            <a:endParaRPr sz="2750">
              <a:latin typeface="Arial MT"/>
              <a:cs typeface="Arial MT"/>
            </a:endParaRPr>
          </a:p>
          <a:p>
            <a:pPr marL="396875" indent="-384175">
              <a:lnSpc>
                <a:spcPct val="100000"/>
              </a:lnSpc>
              <a:spcBef>
                <a:spcPts val="80"/>
              </a:spcBef>
              <a:buChar char="•"/>
              <a:tabLst>
                <a:tab pos="396875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Self-promotion</a:t>
            </a:r>
            <a:r>
              <a:rPr dirty="0" sz="27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750" spc="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spam</a:t>
            </a:r>
            <a:endParaRPr sz="2750">
              <a:latin typeface="Arial MT"/>
              <a:cs typeface="Arial MT"/>
            </a:endParaRPr>
          </a:p>
          <a:p>
            <a:pPr marL="396875" indent="-384175">
              <a:lnSpc>
                <a:spcPct val="100000"/>
              </a:lnSpc>
              <a:spcBef>
                <a:spcPts val="75"/>
              </a:spcBef>
              <a:buChar char="•"/>
              <a:tabLst>
                <a:tab pos="396875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Political,</a:t>
            </a:r>
            <a:r>
              <a:rPr dirty="0" sz="27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personal,</a:t>
            </a:r>
            <a:r>
              <a:rPr dirty="0" sz="27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275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irrelevant</a:t>
            </a:r>
            <a:r>
              <a:rPr dirty="0" sz="27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conversations</a:t>
            </a:r>
            <a:endParaRPr sz="2750">
              <a:latin typeface="Arial MT"/>
              <a:cs typeface="Arial MT"/>
            </a:endParaRPr>
          </a:p>
          <a:p>
            <a:pPr marL="298450" marR="1197610" indent="-286385">
              <a:lnSpc>
                <a:spcPts val="3379"/>
              </a:lnSpc>
              <a:spcBef>
                <a:spcPts val="50"/>
              </a:spcBef>
              <a:buChar char="•"/>
              <a:tabLst>
                <a:tab pos="298450" algn="l"/>
                <a:tab pos="396875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	Dilution</a:t>
            </a:r>
            <a:r>
              <a:rPr dirty="0" sz="27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75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learning</a:t>
            </a:r>
            <a:r>
              <a:rPr dirty="0" sz="27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r>
              <a:rPr dirty="0" sz="27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dirty="0" sz="27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issues</a:t>
            </a:r>
            <a:r>
              <a:rPr dirty="0" sz="27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reduce</a:t>
            </a:r>
            <a:r>
              <a:rPr dirty="0" sz="27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learning</a:t>
            </a:r>
            <a:r>
              <a:rPr dirty="0" sz="27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effectiveness</a:t>
            </a:r>
            <a:r>
              <a:rPr dirty="0" sz="2750" spc="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community</a:t>
            </a:r>
            <a:r>
              <a:rPr dirty="0" sz="2750" spc="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quality.</a:t>
            </a:r>
            <a:endParaRPr sz="2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750">
              <a:latin typeface="Arial MT"/>
              <a:cs typeface="Arial MT"/>
            </a:endParaRPr>
          </a:p>
          <a:p>
            <a:pPr marL="12700" marR="5080" indent="78740">
              <a:lnSpc>
                <a:spcPts val="3229"/>
              </a:lnSpc>
              <a:spcBef>
                <a:spcPts val="5"/>
              </a:spcBef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AI-based</a:t>
            </a:r>
            <a:r>
              <a:rPr dirty="0" sz="2750" spc="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instant</a:t>
            </a:r>
            <a:r>
              <a:rPr dirty="0" sz="2750" spc="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moderation</a:t>
            </a:r>
            <a:r>
              <a:rPr dirty="0" sz="2750" spc="2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dirty="0" sz="27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275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evaluates</a:t>
            </a:r>
            <a:r>
              <a:rPr dirty="0" sz="2750" spc="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chat</a:t>
            </a:r>
            <a:r>
              <a:rPr dirty="0" sz="27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messages</a:t>
            </a:r>
            <a:r>
              <a:rPr dirty="0" sz="2750" spc="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before</a:t>
            </a:r>
            <a:r>
              <a:rPr dirty="0" sz="2750" spc="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dirty="0" sz="2750" spc="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are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published</a:t>
            </a:r>
            <a:r>
              <a:rPr dirty="0" sz="275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750" spc="2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guides</a:t>
            </a:r>
            <a:r>
              <a:rPr dirty="0" sz="27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learners</a:t>
            </a:r>
            <a:r>
              <a:rPr dirty="0" sz="27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2750" spc="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stay</a:t>
            </a:r>
            <a:r>
              <a:rPr dirty="0" sz="27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within</a:t>
            </a:r>
            <a:r>
              <a:rPr dirty="0" sz="2750" spc="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acceptable</a:t>
            </a:r>
            <a:r>
              <a:rPr dirty="0" sz="2750" spc="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boundaries</a:t>
            </a:r>
            <a:r>
              <a:rPr dirty="0" sz="2750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722" y="2513964"/>
            <a:ext cx="7670825" cy="66890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8550" y="638175"/>
            <a:ext cx="6477000" cy="13049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745969" y="1481137"/>
            <a:ext cx="6451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ECDS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2106275" y="800100"/>
            <a:ext cx="4467225" cy="895350"/>
            <a:chOff x="12106275" y="800100"/>
            <a:chExt cx="4467225" cy="89535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97050" y="800100"/>
              <a:ext cx="1085850" cy="71437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54350" y="885825"/>
              <a:ext cx="819150" cy="80962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6275" y="847725"/>
              <a:ext cx="2219325" cy="762000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8650" y="638175"/>
            <a:ext cx="5457825" cy="147637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43927" y="3790886"/>
            <a:ext cx="8098790" cy="3940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114"/>
              </a:spcBef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32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In-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stream</a:t>
            </a:r>
            <a:r>
              <a:rPr dirty="0" sz="3200" spc="-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moderator</a:t>
            </a:r>
            <a:r>
              <a:rPr dirty="0" sz="32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32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evaluates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dirty="0" sz="32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message</a:t>
            </a:r>
            <a:r>
              <a:rPr dirty="0" sz="32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32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real</a:t>
            </a:r>
            <a:r>
              <a:rPr dirty="0" sz="32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time,</a:t>
            </a:r>
            <a:r>
              <a:rPr dirty="0" sz="3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blocks</a:t>
            </a:r>
            <a:r>
              <a:rPr dirty="0" sz="32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harmful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content,</a:t>
            </a:r>
            <a:r>
              <a:rPr dirty="0" sz="32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3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provides</a:t>
            </a:r>
            <a:r>
              <a:rPr dirty="0" sz="32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educational</a:t>
            </a:r>
            <a:r>
              <a:rPr dirty="0" sz="32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feedback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32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32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sender.</a:t>
            </a:r>
            <a:r>
              <a:rPr dirty="0" sz="32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32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evaluates</a:t>
            </a:r>
            <a:r>
              <a:rPr dirty="0" sz="32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content</a:t>
            </a:r>
            <a:r>
              <a:rPr dirty="0" sz="32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against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dynamic</a:t>
            </a:r>
            <a:r>
              <a:rPr dirty="0" sz="32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boundaries</a:t>
            </a:r>
            <a:r>
              <a:rPr dirty="0" sz="32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dirty="0" sz="3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advanced</a:t>
            </a:r>
            <a:r>
              <a:rPr dirty="0" sz="32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LLMs,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ensuring</a:t>
            </a:r>
            <a:r>
              <a:rPr dirty="0" sz="32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relevance</a:t>
            </a:r>
            <a:r>
              <a:rPr dirty="0" sz="32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3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Arial MT"/>
                <a:cs typeface="Arial MT"/>
              </a:rPr>
              <a:t>positivity.</a:t>
            </a:r>
            <a:r>
              <a:rPr dirty="0" sz="32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32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educates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senders</a:t>
            </a:r>
            <a:r>
              <a:rPr dirty="0" sz="32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32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polite,</a:t>
            </a:r>
            <a:r>
              <a:rPr dirty="0" sz="3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constructive</a:t>
            </a:r>
            <a:r>
              <a:rPr dirty="0" sz="3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feedback</a:t>
            </a:r>
            <a:r>
              <a:rPr dirty="0" sz="32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25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encourage</a:t>
            </a:r>
            <a:r>
              <a:rPr dirty="0" sz="32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better</a:t>
            </a:r>
            <a:r>
              <a:rPr dirty="0" sz="32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communication.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474345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Arial"/>
                <a:cs typeface="Arial"/>
              </a:rPr>
              <a:t>Impact</a:t>
            </a:r>
            <a:r>
              <a:rPr dirty="0" spc="-80">
                <a:latin typeface="Arial"/>
                <a:cs typeface="Arial"/>
              </a:rPr>
              <a:t> </a:t>
            </a:r>
            <a:r>
              <a:rPr dirty="0" spc="-50">
                <a:latin typeface="Arial"/>
                <a:cs typeface="Arial"/>
              </a:rPr>
              <a:t>: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10752455" y="4650422"/>
            <a:ext cx="6575425" cy="295783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469900" marR="995680" indent="-457200">
              <a:lnSpc>
                <a:spcPct val="101600"/>
              </a:lnSpc>
              <a:spcBef>
                <a:spcPts val="65"/>
              </a:spcBef>
              <a:buChar char="•"/>
              <a:tabLst>
                <a:tab pos="469900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Create</a:t>
            </a:r>
            <a:r>
              <a:rPr dirty="0" sz="32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safer,</a:t>
            </a:r>
            <a:r>
              <a:rPr dirty="0" sz="32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distraction</a:t>
            </a:r>
            <a:r>
              <a:rPr dirty="0" sz="32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Arial MT"/>
                <a:cs typeface="Arial MT"/>
              </a:rPr>
              <a:t>free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learning</a:t>
            </a:r>
            <a:r>
              <a:rPr dirty="0" sz="32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spaces.</a:t>
            </a:r>
            <a:endParaRPr sz="3200">
              <a:latin typeface="Arial MT"/>
              <a:cs typeface="Arial MT"/>
            </a:endParaRPr>
          </a:p>
          <a:p>
            <a:pPr marL="469265" indent="-456565">
              <a:lnSpc>
                <a:spcPts val="3825"/>
              </a:lnSpc>
              <a:buChar char="•"/>
              <a:tabLst>
                <a:tab pos="469265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Promotes</a:t>
            </a:r>
            <a:r>
              <a:rPr dirty="0" sz="32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positive</a:t>
            </a:r>
            <a:r>
              <a:rPr dirty="0" sz="32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engagement.</a:t>
            </a:r>
            <a:endParaRPr sz="3200">
              <a:latin typeface="Arial MT"/>
              <a:cs typeface="Arial MT"/>
            </a:endParaRPr>
          </a:p>
          <a:p>
            <a:pPr marL="469900" marR="5080" indent="-457200">
              <a:lnSpc>
                <a:spcPts val="3829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Scales</a:t>
            </a:r>
            <a:r>
              <a:rPr dirty="0" sz="32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effortlessly</a:t>
            </a:r>
            <a:r>
              <a:rPr dirty="0" sz="32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dirty="0" sz="32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multiple groups.</a:t>
            </a:r>
            <a:endParaRPr sz="3200">
              <a:latin typeface="Arial MT"/>
              <a:cs typeface="Arial MT"/>
            </a:endParaRPr>
          </a:p>
          <a:p>
            <a:pPr marL="469265" indent="-456565">
              <a:lnSpc>
                <a:spcPts val="3700"/>
              </a:lnSpc>
              <a:buChar char="•"/>
              <a:tabLst>
                <a:tab pos="469265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Boosts</a:t>
            </a:r>
            <a:r>
              <a:rPr dirty="0" sz="3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trust</a:t>
            </a:r>
            <a:r>
              <a:rPr dirty="0" sz="3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32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participation.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920" y="2533776"/>
            <a:ext cx="5643486" cy="60680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6738" y="2533776"/>
            <a:ext cx="2586481" cy="60680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58550" y="638175"/>
            <a:ext cx="6477000" cy="13049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4745969" y="1481137"/>
            <a:ext cx="6451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ECDS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2106275" y="800100"/>
            <a:ext cx="4467225" cy="895350"/>
            <a:chOff x="12106275" y="800100"/>
            <a:chExt cx="4467225" cy="895350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97050" y="800100"/>
              <a:ext cx="1085850" cy="71437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54350" y="885825"/>
              <a:ext cx="819150" cy="80962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06275" y="847725"/>
              <a:ext cx="2219325" cy="762000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8650" y="638175"/>
            <a:ext cx="5457825" cy="147637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711834" y="3867721"/>
            <a:ext cx="2448560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spc="-40">
                <a:solidFill>
                  <a:srgbClr val="FFFFFF"/>
                </a:solidFill>
                <a:latin typeface="Calibri"/>
                <a:cs typeface="Calibri"/>
              </a:rPr>
              <a:t>INNOVATIONS</a:t>
            </a:r>
            <a:r>
              <a:rPr dirty="0" sz="2750" spc="-4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99134" y="4809807"/>
            <a:ext cx="6422390" cy="387159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298450" marR="28575" indent="-286385">
              <a:lnSpc>
                <a:spcPct val="102400"/>
              </a:lnSpc>
              <a:spcBef>
                <a:spcPts val="45"/>
              </a:spcBef>
              <a:buChar char="•"/>
              <a:tabLst>
                <a:tab pos="298450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Instant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AI-driven</a:t>
            </a:r>
            <a:r>
              <a:rPr dirty="0" sz="275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moderation</a:t>
            </a:r>
            <a:r>
              <a:rPr dirty="0" sz="275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27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filters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messages</a:t>
            </a:r>
            <a:r>
              <a:rPr dirty="0" sz="27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7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real</a:t>
            </a:r>
            <a:r>
              <a:rPr dirty="0" sz="27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time.</a:t>
            </a:r>
            <a:endParaRPr sz="2750">
              <a:latin typeface="Arial MT"/>
              <a:cs typeface="Arial MT"/>
            </a:endParaRPr>
          </a:p>
          <a:p>
            <a:pPr marL="298450" marR="5080" indent="-286385">
              <a:lnSpc>
                <a:spcPts val="3379"/>
              </a:lnSpc>
              <a:spcBef>
                <a:spcPts val="125"/>
              </a:spcBef>
              <a:buChar char="•"/>
              <a:tabLst>
                <a:tab pos="298450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Education</a:t>
            </a:r>
            <a:r>
              <a:rPr dirty="0" sz="275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feedback</a:t>
            </a:r>
            <a:r>
              <a:rPr dirty="0" sz="2750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loop</a:t>
            </a:r>
            <a:r>
              <a:rPr dirty="0" sz="275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guiding</a:t>
            </a:r>
            <a:r>
              <a:rPr dirty="0" sz="275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users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instead</a:t>
            </a:r>
            <a:r>
              <a:rPr dirty="0" sz="27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7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just</a:t>
            </a:r>
            <a:r>
              <a:rPr dirty="0" sz="275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blocking.</a:t>
            </a:r>
            <a:endParaRPr sz="2750">
              <a:latin typeface="Arial MT"/>
              <a:cs typeface="Arial MT"/>
            </a:endParaRPr>
          </a:p>
          <a:p>
            <a:pPr marL="298450" marR="217804" indent="-286385">
              <a:lnSpc>
                <a:spcPts val="3310"/>
              </a:lnSpc>
              <a:spcBef>
                <a:spcPts val="50"/>
              </a:spcBef>
              <a:buChar char="•"/>
              <a:tabLst>
                <a:tab pos="298450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Dynamic</a:t>
            </a:r>
            <a:r>
              <a:rPr dirty="0" sz="27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boundaries</a:t>
            </a:r>
            <a:r>
              <a:rPr dirty="0" sz="275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adapting</a:t>
            </a:r>
            <a:r>
              <a:rPr dirty="0" sz="2750" spc="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275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both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generic</a:t>
            </a:r>
            <a:r>
              <a:rPr dirty="0" sz="2750" spc="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750" spc="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topic-specific</a:t>
            </a:r>
            <a:r>
              <a:rPr dirty="0" sz="275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rules.</a:t>
            </a:r>
            <a:endParaRPr sz="2750">
              <a:latin typeface="Arial MT"/>
              <a:cs typeface="Arial MT"/>
            </a:endParaRPr>
          </a:p>
          <a:p>
            <a:pPr marL="298450" marR="565785" indent="-286385">
              <a:lnSpc>
                <a:spcPts val="3379"/>
              </a:lnSpc>
              <a:spcBef>
                <a:spcPts val="10"/>
              </a:spcBef>
              <a:buChar char="•"/>
              <a:tabLst>
                <a:tab pos="298450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Seamless</a:t>
            </a:r>
            <a:r>
              <a:rPr dirty="0" sz="2750" spc="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integration</a:t>
            </a:r>
            <a:r>
              <a:rPr dirty="0" sz="2750" spc="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275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time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chat</a:t>
            </a:r>
            <a:r>
              <a:rPr dirty="0" sz="27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dirty="0" sz="27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Socket.io</a:t>
            </a:r>
            <a:r>
              <a:rPr dirty="0" sz="27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27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low</a:t>
            </a:r>
            <a:r>
              <a:rPr dirty="0" sz="27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latency</a:t>
            </a:r>
            <a:endParaRPr sz="2750">
              <a:latin typeface="Arial MT"/>
              <a:cs typeface="Arial MT"/>
            </a:endParaRPr>
          </a:p>
          <a:p>
            <a:pPr marL="298450">
              <a:lnSpc>
                <a:spcPts val="3250"/>
              </a:lnSpc>
            </a:pP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communication.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62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Unique</a:t>
            </a:r>
            <a:r>
              <a:rPr dirty="0" spc="-55"/>
              <a:t> </a:t>
            </a:r>
            <a:r>
              <a:rPr dirty="0"/>
              <a:t>Selling</a:t>
            </a:r>
            <a:r>
              <a:rPr dirty="0" spc="-40"/>
              <a:t> </a:t>
            </a:r>
            <a:r>
              <a:rPr dirty="0" spc="-10"/>
              <a:t>Propositions</a:t>
            </a:r>
            <a:r>
              <a:rPr dirty="0" spc="-95"/>
              <a:t> </a:t>
            </a:r>
            <a:r>
              <a:rPr dirty="0" spc="-10"/>
              <a:t>(USP):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0290556" y="4809807"/>
            <a:ext cx="6600825" cy="344233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298450" marR="565785" indent="-285750">
              <a:lnSpc>
                <a:spcPct val="102400"/>
              </a:lnSpc>
              <a:spcBef>
                <a:spcPts val="45"/>
              </a:spcBef>
              <a:buChar char="•"/>
              <a:tabLst>
                <a:tab pos="298450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Real-time</a:t>
            </a:r>
            <a:r>
              <a:rPr dirty="0" sz="27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evaluations</a:t>
            </a:r>
            <a:r>
              <a:rPr dirty="0" sz="2750" spc="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2750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constructive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feedback</a:t>
            </a:r>
            <a:r>
              <a:rPr dirty="0" sz="2750" spc="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275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better</a:t>
            </a:r>
            <a:r>
              <a:rPr dirty="0" sz="275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communication.</a:t>
            </a:r>
            <a:endParaRPr sz="2750">
              <a:latin typeface="Arial MT"/>
              <a:cs typeface="Arial MT"/>
            </a:endParaRPr>
          </a:p>
          <a:p>
            <a:pPr marL="298450" marR="887730" indent="-285750">
              <a:lnSpc>
                <a:spcPts val="3379"/>
              </a:lnSpc>
              <a:spcBef>
                <a:spcPts val="125"/>
              </a:spcBef>
              <a:buChar char="•"/>
              <a:tabLst>
                <a:tab pos="298450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Modern</a:t>
            </a:r>
            <a:r>
              <a:rPr dirty="0" sz="2750" spc="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animated</a:t>
            </a:r>
            <a:r>
              <a:rPr dirty="0" sz="27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UI</a:t>
            </a:r>
            <a:r>
              <a:rPr dirty="0" sz="27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27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27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smooth,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engaging</a:t>
            </a:r>
            <a:r>
              <a:rPr dirty="0" sz="2750" spc="2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dirty="0" sz="2750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experience.</a:t>
            </a:r>
            <a:endParaRPr sz="2750">
              <a:latin typeface="Arial MT"/>
              <a:cs typeface="Arial MT"/>
            </a:endParaRPr>
          </a:p>
          <a:p>
            <a:pPr marL="298450" marR="867410" indent="-285750">
              <a:lnSpc>
                <a:spcPts val="3310"/>
              </a:lnSpc>
              <a:spcBef>
                <a:spcPts val="50"/>
              </a:spcBef>
              <a:buChar char="•"/>
              <a:tabLst>
                <a:tab pos="298450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Scalable</a:t>
            </a:r>
            <a:r>
              <a:rPr dirty="0" sz="27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architecture</a:t>
            </a:r>
            <a:r>
              <a:rPr dirty="0" sz="27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ensuring</a:t>
            </a:r>
            <a:r>
              <a:rPr dirty="0" sz="27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low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latency</a:t>
            </a:r>
            <a:r>
              <a:rPr dirty="0" sz="2750" spc="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7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easy</a:t>
            </a:r>
            <a:r>
              <a:rPr dirty="0" sz="27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expansion.</a:t>
            </a:r>
            <a:endParaRPr sz="2750">
              <a:latin typeface="Arial MT"/>
              <a:cs typeface="Arial MT"/>
            </a:endParaRPr>
          </a:p>
          <a:p>
            <a:pPr marL="298450" marR="5080" indent="-285750">
              <a:lnSpc>
                <a:spcPts val="3379"/>
              </a:lnSpc>
              <a:buChar char="•"/>
              <a:tabLst>
                <a:tab pos="298450" algn="l"/>
              </a:tabLst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Learner-friendly</a:t>
            </a:r>
            <a:r>
              <a:rPr dirty="0" sz="275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r>
              <a:rPr dirty="0" sz="2750" spc="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2750" spc="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fosters</a:t>
            </a:r>
            <a:r>
              <a:rPr dirty="0" sz="275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trust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75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positive</a:t>
            </a:r>
            <a:r>
              <a:rPr dirty="0" sz="2750" spc="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engagement.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8691626" y="3624198"/>
            <a:ext cx="0" cy="5487035"/>
          </a:xfrm>
          <a:custGeom>
            <a:avLst/>
            <a:gdLst/>
            <a:ahLst/>
            <a:cxnLst/>
            <a:rect l="l" t="t" r="r" b="b"/>
            <a:pathLst>
              <a:path w="0" h="5487034">
                <a:moveTo>
                  <a:pt x="0" y="0"/>
                </a:moveTo>
                <a:lnTo>
                  <a:pt x="0" y="5486463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223" y="2293747"/>
            <a:ext cx="8148840" cy="46443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8550" y="638175"/>
            <a:ext cx="6477000" cy="13049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745969" y="1481137"/>
            <a:ext cx="6451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ECDS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2106275" y="800100"/>
            <a:ext cx="4467225" cy="895350"/>
            <a:chOff x="12106275" y="800100"/>
            <a:chExt cx="4467225" cy="89535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97050" y="800100"/>
              <a:ext cx="1085850" cy="71437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54350" y="885825"/>
              <a:ext cx="819150" cy="80962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6275" y="847725"/>
              <a:ext cx="2219325" cy="762000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8650" y="638175"/>
            <a:ext cx="5457825" cy="147637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86000" y="3743325"/>
            <a:ext cx="147828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902" y="2478913"/>
            <a:ext cx="6693331" cy="70396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8550" y="638175"/>
            <a:ext cx="6477000" cy="13049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745969" y="1481137"/>
            <a:ext cx="6451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ECDS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2106275" y="800100"/>
            <a:ext cx="4467225" cy="895350"/>
            <a:chOff x="12106275" y="800100"/>
            <a:chExt cx="4467225" cy="89535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97050" y="800100"/>
              <a:ext cx="1085850" cy="71437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54350" y="885825"/>
              <a:ext cx="819150" cy="80962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6275" y="847725"/>
              <a:ext cx="2219325" cy="762000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8650" y="638175"/>
            <a:ext cx="5457825" cy="147637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98575" y="3720020"/>
            <a:ext cx="8722360" cy="3677285"/>
          </a:xfrm>
          <a:prstGeom prst="rect">
            <a:avLst/>
          </a:prstGeom>
        </p:spPr>
        <p:txBody>
          <a:bodyPr wrap="square" lIns="0" tIns="24892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960"/>
              </a:spcBef>
              <a:buChar char="•"/>
              <a:tabLst>
                <a:tab pos="297815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Frontend:</a:t>
            </a:r>
            <a:r>
              <a:rPr dirty="0" sz="32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HTML</a:t>
            </a:r>
            <a:r>
              <a:rPr dirty="0" sz="3200" spc="-1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5,</a:t>
            </a:r>
            <a:r>
              <a:rPr dirty="0" sz="32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40">
                <a:solidFill>
                  <a:srgbClr val="FFFFFF"/>
                </a:solidFill>
                <a:latin typeface="Arial MT"/>
                <a:cs typeface="Arial MT"/>
              </a:rPr>
              <a:t>Tailwind</a:t>
            </a:r>
            <a:r>
              <a:rPr dirty="0" sz="32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CSS,</a:t>
            </a:r>
            <a:r>
              <a:rPr dirty="0" sz="32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GSAP.</a:t>
            </a:r>
            <a:endParaRPr sz="32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864"/>
              </a:spcBef>
              <a:buChar char="•"/>
              <a:tabLst>
                <a:tab pos="297815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Backend:</a:t>
            </a:r>
            <a:r>
              <a:rPr dirty="0" sz="32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Node.JS,</a:t>
            </a:r>
            <a:r>
              <a:rPr dirty="0" sz="32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Express.JS.</a:t>
            </a:r>
            <a:endParaRPr sz="32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939"/>
              </a:spcBef>
              <a:buChar char="•"/>
              <a:tabLst>
                <a:tab pos="297815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Real</a:t>
            </a:r>
            <a:r>
              <a:rPr dirty="0" sz="32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dirty="0" sz="32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Communication:</a:t>
            </a:r>
            <a:r>
              <a:rPr dirty="0" sz="320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Socket.io.</a:t>
            </a:r>
            <a:endParaRPr sz="32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939"/>
              </a:spcBef>
              <a:buChar char="•"/>
              <a:tabLst>
                <a:tab pos="297815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Database:</a:t>
            </a:r>
            <a:r>
              <a:rPr dirty="0" sz="32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Neon</a:t>
            </a:r>
            <a:r>
              <a:rPr dirty="0" sz="32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DB</a:t>
            </a:r>
            <a:r>
              <a:rPr dirty="0" sz="32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accessible</a:t>
            </a:r>
            <a:r>
              <a:rPr dirty="0" sz="3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via</a:t>
            </a:r>
            <a:r>
              <a:rPr dirty="0" sz="32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Neon</a:t>
            </a:r>
            <a:r>
              <a:rPr dirty="0" sz="3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35">
                <a:solidFill>
                  <a:srgbClr val="FFFFFF"/>
                </a:solidFill>
                <a:latin typeface="Arial MT"/>
                <a:cs typeface="Arial MT"/>
              </a:rPr>
              <a:t>MCP.</a:t>
            </a:r>
            <a:endParaRPr sz="32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1939"/>
              </a:spcBef>
              <a:buChar char="•"/>
              <a:tabLst>
                <a:tab pos="297815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32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Engine:</a:t>
            </a:r>
            <a:r>
              <a:rPr dirty="0" sz="3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Groq</a:t>
            </a:r>
            <a:r>
              <a:rPr dirty="0" sz="320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Arial MT"/>
                <a:cs typeface="Arial MT"/>
              </a:rPr>
              <a:t>API.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34525" y="2809875"/>
            <a:ext cx="2886075" cy="115252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954000" y="2609850"/>
            <a:ext cx="3429000" cy="93345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830550" y="4781550"/>
            <a:ext cx="1762125" cy="17526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439400" y="7219950"/>
            <a:ext cx="2124075" cy="2171700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9982200" y="4257675"/>
            <a:ext cx="7172325" cy="5334000"/>
            <a:chOff x="9982200" y="4257675"/>
            <a:chExt cx="7172325" cy="5334000"/>
          </a:xfrm>
        </p:grpSpPr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82200" y="4257675"/>
              <a:ext cx="5153025" cy="28956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849225" y="7191375"/>
              <a:ext cx="4305300" cy="2400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302" y="2858897"/>
            <a:ext cx="12683197" cy="62763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8550" y="638175"/>
            <a:ext cx="6477000" cy="13049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745969" y="1481137"/>
            <a:ext cx="6451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ECDS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2106275" y="800100"/>
            <a:ext cx="4467225" cy="895350"/>
            <a:chOff x="12106275" y="800100"/>
            <a:chExt cx="4467225" cy="89535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97050" y="800100"/>
              <a:ext cx="1085850" cy="71437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54350" y="885825"/>
              <a:ext cx="819150" cy="80962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6275" y="847725"/>
              <a:ext cx="2219325" cy="762000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8650" y="638175"/>
            <a:ext cx="5457825" cy="147637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40117" y="4344670"/>
            <a:ext cx="14038580" cy="49129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97180" marR="591185" indent="-285115">
              <a:lnSpc>
                <a:spcPct val="101699"/>
              </a:lnSpc>
              <a:spcBef>
                <a:spcPts val="65"/>
              </a:spcBef>
              <a:buChar char="•"/>
              <a:tabLst>
                <a:tab pos="298450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Socket.io</a:t>
            </a:r>
            <a:r>
              <a:rPr dirty="0" sz="32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WebSocket</a:t>
            </a:r>
            <a:r>
              <a:rPr dirty="0" sz="32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events:</a:t>
            </a:r>
            <a:r>
              <a:rPr dirty="0" sz="32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Handles</a:t>
            </a:r>
            <a:r>
              <a:rPr dirty="0" sz="32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connection,</a:t>
            </a:r>
            <a:r>
              <a:rPr dirty="0" sz="32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message</a:t>
            </a:r>
            <a:r>
              <a:rPr dirty="0" sz="32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sending</a:t>
            </a:r>
            <a:r>
              <a:rPr dirty="0" sz="32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dirty="0" sz="32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broadcast</a:t>
            </a:r>
            <a:r>
              <a:rPr dirty="0" sz="32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logic.</a:t>
            </a:r>
            <a:endParaRPr sz="3200">
              <a:latin typeface="Arial MT"/>
              <a:cs typeface="Arial MT"/>
            </a:endParaRPr>
          </a:p>
          <a:p>
            <a:pPr marL="297180" marR="1256030" indent="-285115">
              <a:lnSpc>
                <a:spcPts val="3829"/>
              </a:lnSpc>
              <a:spcBef>
                <a:spcPts val="120"/>
              </a:spcBef>
              <a:buChar char="•"/>
              <a:tabLst>
                <a:tab pos="298450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32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Moderation</a:t>
            </a:r>
            <a:r>
              <a:rPr dirty="0" sz="32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Engine:</a:t>
            </a:r>
            <a:r>
              <a:rPr dirty="0" sz="32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Integrates</a:t>
            </a:r>
            <a:r>
              <a:rPr dirty="0" sz="32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Groq</a:t>
            </a:r>
            <a:r>
              <a:rPr dirty="0" sz="3200" spc="-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32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strict</a:t>
            </a:r>
            <a:r>
              <a:rPr dirty="0" sz="32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JSON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 response 	format.</a:t>
            </a:r>
            <a:endParaRPr sz="3200">
              <a:latin typeface="Arial MT"/>
              <a:cs typeface="Arial MT"/>
            </a:endParaRPr>
          </a:p>
          <a:p>
            <a:pPr marL="297815" indent="-285115">
              <a:lnSpc>
                <a:spcPts val="3695"/>
              </a:lnSpc>
              <a:buChar char="•"/>
              <a:tabLst>
                <a:tab pos="297815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Neon</a:t>
            </a:r>
            <a:r>
              <a:rPr dirty="0" sz="3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DB</a:t>
            </a:r>
            <a:r>
              <a:rPr dirty="0" sz="32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schema:</a:t>
            </a:r>
            <a:r>
              <a:rPr dirty="0" sz="32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Modular</a:t>
            </a:r>
            <a:r>
              <a:rPr dirty="0" sz="3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tables</a:t>
            </a:r>
            <a:r>
              <a:rPr dirty="0" sz="32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3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users,</a:t>
            </a:r>
            <a:r>
              <a:rPr dirty="0" sz="32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groups,</a:t>
            </a:r>
            <a:r>
              <a:rPr dirty="0" sz="3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boundaries</a:t>
            </a:r>
            <a:r>
              <a:rPr dirty="0" sz="32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2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endParaRPr sz="3200">
              <a:latin typeface="Arial MT"/>
              <a:cs typeface="Arial MT"/>
            </a:endParaRPr>
          </a:p>
          <a:p>
            <a:pPr marL="298450">
              <a:lnSpc>
                <a:spcPts val="3835"/>
              </a:lnSpc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approved</a:t>
            </a:r>
            <a:r>
              <a:rPr dirty="0" sz="32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messages.</a:t>
            </a:r>
            <a:endParaRPr sz="3200">
              <a:latin typeface="Arial MT"/>
              <a:cs typeface="Arial MT"/>
            </a:endParaRPr>
          </a:p>
          <a:p>
            <a:pPr marL="297180" marR="688975" indent="-285115">
              <a:lnSpc>
                <a:spcPct val="100000"/>
              </a:lnSpc>
              <a:spcBef>
                <a:spcPts val="65"/>
              </a:spcBef>
              <a:buChar char="•"/>
              <a:tabLst>
                <a:tab pos="298450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Modular</a:t>
            </a:r>
            <a:r>
              <a:rPr dirty="0" sz="32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Backend(Node</a:t>
            </a:r>
            <a:r>
              <a:rPr dirty="0" sz="32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JS</a:t>
            </a:r>
            <a:r>
              <a:rPr dirty="0" sz="32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32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express):</a:t>
            </a:r>
            <a:r>
              <a:rPr dirty="0" sz="32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REST</a:t>
            </a:r>
            <a:r>
              <a:rPr dirty="0" sz="3200" spc="-3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APIs</a:t>
            </a:r>
            <a:r>
              <a:rPr dirty="0" sz="32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32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admin</a:t>
            </a:r>
            <a:r>
              <a:rPr dirty="0" sz="32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control</a:t>
            </a:r>
            <a:r>
              <a:rPr dirty="0" sz="32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dirty="0" sz="3200" spc="-2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real</a:t>
            </a:r>
            <a:r>
              <a:rPr dirty="0" sz="3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dirty="0" sz="32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socket</a:t>
            </a:r>
            <a:r>
              <a:rPr dirty="0" sz="32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handling.</a:t>
            </a:r>
            <a:endParaRPr sz="3200">
              <a:latin typeface="Arial MT"/>
              <a:cs typeface="Arial MT"/>
            </a:endParaRPr>
          </a:p>
          <a:p>
            <a:pPr marL="297180" marR="5080" indent="-285115">
              <a:lnSpc>
                <a:spcPts val="3829"/>
              </a:lnSpc>
              <a:spcBef>
                <a:spcPts val="90"/>
              </a:spcBef>
              <a:buChar char="•"/>
              <a:tabLst>
                <a:tab pos="298450" algn="l"/>
              </a:tabLst>
            </a:pP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Fronted</a:t>
            </a:r>
            <a:r>
              <a:rPr dirty="0" sz="32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Integration:</a:t>
            </a:r>
            <a:r>
              <a:rPr dirty="0" sz="32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Arial MT"/>
                <a:cs typeface="Arial MT"/>
              </a:rPr>
              <a:t>Vanilla</a:t>
            </a:r>
            <a:r>
              <a:rPr dirty="0" sz="32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JS</a:t>
            </a:r>
            <a:r>
              <a:rPr dirty="0" sz="32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320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40">
                <a:solidFill>
                  <a:srgbClr val="FFFFFF"/>
                </a:solidFill>
                <a:latin typeface="Arial MT"/>
                <a:cs typeface="Arial MT"/>
              </a:rPr>
              <a:t>Tailwind</a:t>
            </a:r>
            <a:r>
              <a:rPr dirty="0" sz="32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CSS</a:t>
            </a:r>
            <a:r>
              <a:rPr dirty="0" sz="32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32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responsive,</a:t>
            </a:r>
            <a:r>
              <a:rPr dirty="0" sz="32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animated</a:t>
            </a:r>
            <a:r>
              <a:rPr dirty="0" sz="32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Arial MT"/>
                <a:cs typeface="Arial MT"/>
              </a:rPr>
              <a:t>user </a:t>
            </a:r>
            <a:r>
              <a:rPr dirty="0" sz="3200" spc="-2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experience.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405" y="2789808"/>
            <a:ext cx="8522233" cy="66890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8550" y="638175"/>
            <a:ext cx="6477000" cy="13049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745969" y="1481137"/>
            <a:ext cx="6451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ECDS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2106275" y="800100"/>
            <a:ext cx="4467225" cy="895350"/>
            <a:chOff x="12106275" y="800100"/>
            <a:chExt cx="4467225" cy="89535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97050" y="800100"/>
              <a:ext cx="1085850" cy="71437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54350" y="885825"/>
              <a:ext cx="819150" cy="80962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6275" y="847725"/>
              <a:ext cx="2219325" cy="762000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8650" y="638175"/>
            <a:ext cx="5457825" cy="147637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738245" y="4180522"/>
            <a:ext cx="3329304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latin typeface="Arial MT"/>
                <a:cs typeface="Arial MT"/>
              </a:rPr>
              <a:t>1.Anto</a:t>
            </a:r>
            <a:r>
              <a:rPr dirty="0" sz="3600" spc="-60" b="0">
                <a:latin typeface="Arial MT"/>
                <a:cs typeface="Arial MT"/>
              </a:rPr>
              <a:t> </a:t>
            </a:r>
            <a:r>
              <a:rPr dirty="0" sz="3600" b="0">
                <a:latin typeface="Arial MT"/>
                <a:cs typeface="Arial MT"/>
              </a:rPr>
              <a:t>Merary</a:t>
            </a:r>
            <a:r>
              <a:rPr dirty="0" sz="3600" spc="5" b="0">
                <a:latin typeface="Arial MT"/>
                <a:cs typeface="Arial MT"/>
              </a:rPr>
              <a:t> </a:t>
            </a:r>
            <a:r>
              <a:rPr dirty="0" sz="3600" spc="-50" b="0">
                <a:latin typeface="Arial MT"/>
                <a:cs typeface="Arial MT"/>
              </a:rPr>
              <a:t>S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738245" y="4723384"/>
            <a:ext cx="3985895" cy="2777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3065" indent="-384175">
              <a:lnSpc>
                <a:spcPct val="100000"/>
              </a:lnSpc>
              <a:spcBef>
                <a:spcPts val="105"/>
              </a:spcBef>
              <a:buSzPct val="97222"/>
              <a:buAutoNum type="arabicPeriod" startAt="2"/>
              <a:tabLst>
                <a:tab pos="393065" algn="l"/>
              </a:tabLst>
            </a:pPr>
            <a:r>
              <a:rPr dirty="0" sz="3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36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FFFFFF"/>
                </a:solidFill>
                <a:latin typeface="Arial MT"/>
                <a:cs typeface="Arial MT"/>
              </a:rPr>
              <a:t>Faiyaz</a:t>
            </a:r>
            <a:r>
              <a:rPr dirty="0" sz="36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dirty="0" sz="36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600" spc="-5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endParaRPr sz="3600">
              <a:latin typeface="Arial MT"/>
              <a:cs typeface="Arial MT"/>
            </a:endParaRPr>
          </a:p>
          <a:p>
            <a:pPr marL="393065" indent="-384175">
              <a:lnSpc>
                <a:spcPts val="4300"/>
              </a:lnSpc>
              <a:spcBef>
                <a:spcPts val="35"/>
              </a:spcBef>
              <a:buSzPct val="97222"/>
              <a:buAutoNum type="arabicPeriod" startAt="2"/>
              <a:tabLst>
                <a:tab pos="393065" algn="l"/>
              </a:tabLst>
            </a:pPr>
            <a:r>
              <a:rPr dirty="0" sz="3600" spc="-1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3600" spc="-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FFFFFF"/>
                </a:solidFill>
                <a:latin typeface="Arial MT"/>
                <a:cs typeface="Arial MT"/>
              </a:rPr>
              <a:t>Arshath</a:t>
            </a:r>
            <a:r>
              <a:rPr dirty="0" sz="36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600" spc="-5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3600">
              <a:latin typeface="Arial MT"/>
              <a:cs typeface="Arial MT"/>
            </a:endParaRPr>
          </a:p>
          <a:p>
            <a:pPr marL="393065" indent="-384175">
              <a:lnSpc>
                <a:spcPts val="4300"/>
              </a:lnSpc>
              <a:buSzPct val="97222"/>
              <a:buAutoNum type="arabicPeriod" startAt="2"/>
              <a:tabLst>
                <a:tab pos="393065" algn="l"/>
              </a:tabLst>
            </a:pPr>
            <a:r>
              <a:rPr dirty="0" sz="3600">
                <a:solidFill>
                  <a:srgbClr val="FFFFFF"/>
                </a:solidFill>
                <a:latin typeface="Arial MT"/>
                <a:cs typeface="Arial MT"/>
              </a:rPr>
              <a:t>Dinesh</a:t>
            </a:r>
            <a:r>
              <a:rPr dirty="0" sz="36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600" spc="-5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endParaRPr sz="3600">
              <a:latin typeface="Arial MT"/>
              <a:cs typeface="Arial MT"/>
            </a:endParaRPr>
          </a:p>
          <a:p>
            <a:pPr marL="393065" indent="-384175">
              <a:lnSpc>
                <a:spcPct val="100000"/>
              </a:lnSpc>
              <a:spcBef>
                <a:spcPts val="30"/>
              </a:spcBef>
              <a:buSzPct val="97222"/>
              <a:buAutoNum type="arabicPeriod" startAt="2"/>
              <a:tabLst>
                <a:tab pos="393065" algn="l"/>
              </a:tabLst>
            </a:pPr>
            <a:r>
              <a:rPr dirty="0" sz="3600">
                <a:solidFill>
                  <a:srgbClr val="FFFFFF"/>
                </a:solidFill>
                <a:latin typeface="Arial MT"/>
                <a:cs typeface="Arial MT"/>
              </a:rPr>
              <a:t>Aswin</a:t>
            </a:r>
            <a:r>
              <a:rPr dirty="0" sz="36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FFFFFF"/>
                </a:solidFill>
                <a:latin typeface="Arial MT"/>
                <a:cs typeface="Arial MT"/>
              </a:rPr>
              <a:t>Kumar</a:t>
            </a:r>
            <a:r>
              <a:rPr dirty="0" sz="3600" spc="-50">
                <a:solidFill>
                  <a:srgbClr val="FFFFFF"/>
                </a:solidFill>
                <a:latin typeface="Arial MT"/>
                <a:cs typeface="Arial MT"/>
              </a:rPr>
              <a:t> K</a:t>
            </a:r>
            <a:endParaRPr sz="3600">
              <a:latin typeface="Arial MT"/>
              <a:cs typeface="Arial MT"/>
            </a:endParaRPr>
          </a:p>
          <a:p>
            <a:pPr marL="393065" indent="-384175">
              <a:lnSpc>
                <a:spcPct val="100000"/>
              </a:lnSpc>
              <a:spcBef>
                <a:spcPts val="35"/>
              </a:spcBef>
              <a:buSzPct val="97222"/>
              <a:buAutoNum type="arabicPeriod" startAt="2"/>
              <a:tabLst>
                <a:tab pos="393065" algn="l"/>
              </a:tabLst>
            </a:pPr>
            <a:r>
              <a:rPr dirty="0" sz="3600" spc="-10">
                <a:solidFill>
                  <a:srgbClr val="FFFFFF"/>
                </a:solidFill>
                <a:latin typeface="Arial MT"/>
                <a:cs typeface="Arial MT"/>
              </a:rPr>
              <a:t>Padmadev</a:t>
            </a:r>
            <a:r>
              <a:rPr dirty="0" sz="3600" spc="-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600" spc="-5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2026-03-10T06:45:30Z</dcterms:created>
  <dcterms:modified xsi:type="dcterms:W3CDTF">2026-03-10T06:45:30Z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2026-03-09T00:00:00Z</vt:filetime>
  </property>
  <property fmtid="{D5CDD505-2E9C-101B-9397-08002B2CF9AE}" pid="3" name="LastSaved">
    <vt:filetime>2026-03-10T00:00:00Z</vt:filetime>
  </property>
</Properties>
</file>